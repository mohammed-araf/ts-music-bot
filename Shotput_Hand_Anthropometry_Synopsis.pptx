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6"/>
    <p:sldId id="266" r:id="rId17"/>
    <p:sldId id="267" r:id="rId18"/>
    <p:sldId id="268" r:id="rId19"/>
    <p:sldId id="269" r:id="rId20"/>
    <p:sldId id="270" r:id="rId21"/>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2f1aa38a-b53e-8dd5-449d-27c5b9994f32}">
          <p14:sldIdLst>
            <p14:sldId id="256"/>
          </p14:sldIdLst>
        </p14:section>
        <p14:section name="Introduction" id="{e1129bf8-06c3-7674-2336-2474a5451143}">
          <p14:sldIdLst>
            <p14:sldId id="257"/>
            <p14:sldId id="258"/>
          </p14:sldIdLst>
        </p14:section>
        <p14:section name="Need for the Study" id="{afb7ec3f-af34-492a-eaf5-e284db24f668}">
          <p14:sldIdLst>
            <p14:sldId id="259"/>
            <p14:sldId id="260"/>
          </p14:sldIdLst>
        </p14:section>
        <p14:section name="Aim and Objectives" id="{6fc4bf98-e31a-6258-0af4-2ebcffd6825f}">
          <p14:sldIdLst>
            <p14:sldId id="261"/>
          </p14:sldIdLst>
        </p14:section>
        <p14:section name="Review of Literature" id="{2f4e2f7d-a645-d331-b78d-d739baedf2f2}">
          <p14:sldIdLst>
            <p14:sldId id="262"/>
            <p14:sldId id="263"/>
          </p14:sldIdLst>
        </p14:section>
        <p14:section name="References" id="{cbfd5707-799b-c802-d88f-75022b2443e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680960" cy="274320"/>
          </a:xfrm>
          <a:prstGeom prst="rect">
            <a:avLst/>
          </a:prstGeom>
          <a:noFill/>
          <a:ln/>
        </p:spPr>
        <p:txBody>
          <a:bodyPr wrap="square" lIns="0" tIns="0" rIns="0" bIns="0" rtlCol="0" anchor="ctr"/>
          <a:lstStyle/>
          <a:p>
            <a:pPr indent="0" marL="0">
              <a:buNone/>
            </a:pPr>
            <a:r>
              <a:rPr lang="en-US" sz="1400" b="1" spc="300" kern="0" dirty="0">
                <a:solidFill>
                  <a:schemeClr val="accent3"/>
                </a:solidFill>
              </a:rPr>
              <a:t>SYNOPSIS PRESENTATION</a:t>
            </a:r>
            <a:endParaRPr lang="en-US" sz="1400" dirty="0"/>
          </a:p>
        </p:txBody>
      </p:sp>
      <p:sp>
        <p:nvSpPr>
          <p:cNvPr id="3" name="Presentation title"/>
          <p:cNvSpPr txBox="1"/>
          <p:nvPr/>
        </p:nvSpPr>
        <p:spPr>
          <a:xfrm>
            <a:off x="731520" y="1280160"/>
            <a:ext cx="7680960" cy="17373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Correlation of Hand Anthropometry with Ball in Shotput Players</a:t>
            </a:r>
            <a:endParaRPr lang="en-US" sz="3400" dirty="0"/>
          </a:p>
        </p:txBody>
      </p:sp>
      <p:sp>
        <p:nvSpPr>
          <p:cNvPr id="4" name="Student details"/>
          <p:cNvSpPr txBox="1"/>
          <p:nvPr/>
        </p:nvSpPr>
        <p:spPr>
          <a:xfrm>
            <a:off x="731520" y="3383280"/>
            <a:ext cx="7680960" cy="100584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Submitted by: [Your name]</a:t>
            </a:r>
            <a:endParaRPr lang="en-US" sz="1600" dirty="0"/>
          </a:p>
          <a:p>
            <a:pPr indent="0" marL="0">
              <a:spcAft>
                <a:spcPts val="400"/>
              </a:spcAft>
              <a:buNone/>
            </a:pPr>
            <a:r>
              <a:rPr lang="en-US" sz="1600" dirty="0">
                <a:solidFill>
                  <a:schemeClr val="bg2"/>
                </a:solidFill>
              </a:rPr>
              <a:t>Guided by: [Guide's name]</a:t>
            </a:r>
            <a:endParaRPr lang="en-US" sz="1600" dirty="0"/>
          </a:p>
          <a:p>
            <a:pPr indent="0" marL="0">
              <a:spcAft>
                <a:spcPts val="400"/>
              </a:spcAft>
              <a:buNone/>
            </a:pPr>
            <a:r>
              <a:rPr lang="en-US" sz="1600" dirty="0">
                <a:solidFill>
                  <a:schemeClr val="bg2"/>
                </a:solidFill>
              </a:rPr>
              <a:t>[College name]  |  Batch: [year]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Introduction</a:t>
            </a:r>
            <a:endParaRPr lang="en-US" sz="3200" dirty="0"/>
          </a:p>
        </p:txBody>
      </p:sp>
      <p:sp>
        <p:nvSpPr>
          <p:cNvPr id="3" name="Introduction text 1"/>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Shot put looks like one heave of a heavy metal ball, but the distance it travels is decided in a fraction of a second. The thrower builds speed across the circle, turns the hips and trunk, and then passes all of that force through the arm and the fingers into the shot. At release, the hand is the last link in this chain and the only part of the body that is actually in contact with the ball.</a:t>
            </a:r>
            <a:endParaRPr lang="en-US" sz="1500" dirty="0"/>
          </a:p>
          <a:p>
            <a:pPr indent="0" marL="0">
              <a:spcAft>
                <a:spcPts val="1000"/>
              </a:spcAft>
              <a:buNone/>
            </a:pPr>
            <a:r>
              <a:rPr lang="en-US" sz="1500" dirty="0">
                <a:solidFill>
                  <a:schemeClr val="tx1"/>
                </a:solidFill>
              </a:rPr>
              <a:t>Performance in shot put is usually explained by strength, power, technique and body size. Haq and colleagues noted that the performance of shot put athletes depends on anthropometric characteristics, physical fitness and technique together (4). Anthropometry, the measurement of body size, shape and proportion, is cheap and quick, and it has long been used to describe throwers and to identify young athletes with potential (1, 2).</a:t>
            </a:r>
            <a:endParaRPr lang="en-US" sz="1500" dirty="0"/>
          </a:p>
          <a:p>
            <a:pPr indent="0" marL="0">
              <a:spcAft>
                <a:spcPts val="1000"/>
              </a:spcAft>
              <a:buNone/>
            </a:pPr>
            <a:r>
              <a:rPr lang="en-US" sz="1500" dirty="0">
                <a:solidFill>
                  <a:schemeClr val="tx1"/>
                </a:solidFill>
              </a:rPr>
              <a:t>Most work on throwers has looked at height, body mass, arm length and limb girths. The hand is measured far less often, even though its size decides how a player can hold, balance and push the ball. Hand width was one of the measures positively related to shot put distance in German junior shot putters (1).</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Introduction (continued)</a:t>
            </a:r>
            <a:endParaRPr lang="en-US" sz="3200" dirty="0"/>
          </a:p>
        </p:txBody>
      </p:sp>
      <p:sp>
        <p:nvSpPr>
          <p:cNvPr id="3" name="Introduction text 2"/>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The shot is held against the neck with the fingers and the base of the palm, and it stays there until the push begins. A larger hand with longer fingers may spread the load over a bigger area and give better control of the ball, while a smaller hand may leave less room for error. Whether this shows up in the distance thrown has not been well studied in shot putters.</a:t>
            </a:r>
            <a:endParaRPr lang="en-US" sz="1500" dirty="0"/>
          </a:p>
          <a:p>
            <a:pPr indent="0" marL="0">
              <a:spcAft>
                <a:spcPts val="1000"/>
              </a:spcAft>
              <a:buNone/>
            </a:pPr>
            <a:r>
              <a:rPr lang="en-US" sz="1500" dirty="0">
                <a:solidFill>
                  <a:schemeClr val="tx1"/>
                </a:solidFill>
              </a:rPr>
              <a:t>Work in other throwing sports points the same way. In handball, hand size and finger length are described as strong influences on throwing because they allow better mastery of the ball and relate to maximum grip strength. Yet in a study of 176 amateur handball players, BMI, arm span and height, rather than hand span, were the variables that predicted throwing speed (5).</a:t>
            </a:r>
            <a:endParaRPr lang="en-US" sz="1500" dirty="0"/>
          </a:p>
          <a:p>
            <a:pPr indent="0" marL="0">
              <a:spcAft>
                <a:spcPts val="1000"/>
              </a:spcAft>
              <a:buNone/>
            </a:pPr>
            <a:r>
              <a:rPr lang="en-US" sz="1500" dirty="0">
                <a:solidFill>
                  <a:schemeClr val="tx1"/>
                </a:solidFill>
              </a:rPr>
              <a:t>The evidence is therefore mixed, and most of it comes from other sports or from whole-body measures. This study is planned to measure the hands of shot put players carefully and to find out how their dimensions are related to the distance they throw the ball.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Need for the Study</a:t>
            </a:r>
            <a:endParaRPr lang="en-US" sz="3200" dirty="0"/>
          </a:p>
        </p:txBody>
      </p:sp>
      <p:sp>
        <p:nvSpPr>
          <p:cNvPr id="3" name="Need text 1"/>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Shot putters are usually picked by height, body weight and strength. Hand measurements are seldom included, although the hand is the final point of contact with the ball. Hand width was positively related to performance in junior shot putters (1), but few studies have looked at the hand in detail, with length, breadth, span and finger length measured separately.</a:t>
            </a:r>
            <a:endParaRPr lang="en-US" sz="1500" dirty="0"/>
          </a:p>
          <a:p>
            <a:pPr indent="0" marL="0">
              <a:spcAft>
                <a:spcPts val="1000"/>
              </a:spcAft>
              <a:buNone/>
            </a:pPr>
            <a:r>
              <a:rPr lang="en-US" sz="1500" dirty="0">
                <a:solidFill>
                  <a:schemeClr val="tx1"/>
                </a:solidFill>
              </a:rPr>
              <a:t>Findings on body dimensions are also not consistent. A study of shot put and javelin throwers examined hand length along with other body lengths and found that several of them were related to shot put results, whereas only sitting height was related to javelin results (2). In handball, hand span did not come out as a predictor of throwing speed (5). Each event and each ball seems to need its own answer.</a:t>
            </a:r>
            <a:endParaRPr lang="en-US" sz="1500" dirty="0"/>
          </a:p>
          <a:p>
            <a:pPr indent="0" marL="0">
              <a:spcAft>
                <a:spcPts val="1000"/>
              </a:spcAft>
              <a:buNone/>
            </a:pPr>
            <a:r>
              <a:rPr lang="en-US" sz="1500" dirty="0">
                <a:solidFill>
                  <a:schemeClr val="tx1"/>
                </a:solidFill>
              </a:rPr>
              <a:t>There is also a practical need. Hand measurement requires only a caliper and a tape, it takes a few minutes, and it can be done at any school, college or club without a laboratory.</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Need for the Study (continued)</a:t>
            </a:r>
            <a:endParaRPr lang="en-US" sz="3200" dirty="0"/>
          </a:p>
        </p:txBody>
      </p:sp>
      <p:sp>
        <p:nvSpPr>
          <p:cNvPr id="3" name="Need text 2"/>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For coaches, knowing whether hand size is related to throwing distance could support talent identification. Shot put is a complex technical event, and it is difficult to tell at the start whether a beginner will become a good thrower (2). A simple hand measurement could add one more piece of information to height and body weight.</a:t>
            </a:r>
            <a:endParaRPr lang="en-US" sz="1500" dirty="0"/>
          </a:p>
          <a:p>
            <a:pPr indent="0" marL="0">
              <a:spcAft>
                <a:spcPts val="1000"/>
              </a:spcAft>
              <a:buNone/>
            </a:pPr>
            <a:r>
              <a:rPr lang="en-US" sz="1500" dirty="0">
                <a:solidFill>
                  <a:schemeClr val="tx1"/>
                </a:solidFill>
              </a:rPr>
              <a:t>For athletes, a link between hand dimensions and distance could prompt coaches to look more closely at grip, finger position and shot weight, especially for players with smaller hands. If no link is found, that is also useful, because coaches can then give more attention to strength, power and technique (3).</a:t>
            </a:r>
            <a:endParaRPr lang="en-US" sz="1500" dirty="0"/>
          </a:p>
          <a:p>
            <a:pPr indent="0" marL="0">
              <a:spcAft>
                <a:spcPts val="1000"/>
              </a:spcAft>
              <a:buNone/>
            </a:pPr>
            <a:r>
              <a:rPr lang="en-US" sz="1500" dirty="0">
                <a:solidFill>
                  <a:schemeClr val="tx1"/>
                </a:solidFill>
              </a:rPr>
              <a:t>Lastly, the study will add to the limited research on hand anthropometry in throwers, and it can give a base for larger studies that include both men and women and different age groups.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Aim and Objectives</a:t>
            </a:r>
            <a:endParaRPr lang="en-US" sz="3200" dirty="0"/>
          </a:p>
        </p:txBody>
      </p:sp>
      <p:sp>
        <p:nvSpPr>
          <p:cNvPr id="3" name="Aim"/>
          <p:cNvSpPr txBox="1"/>
          <p:nvPr/>
        </p:nvSpPr>
        <p:spPr>
          <a:xfrm>
            <a:off x="548640" y="1143000"/>
            <a:ext cx="8046720" cy="822960"/>
          </a:xfrm>
          <a:prstGeom prst="rect">
            <a:avLst/>
          </a:prstGeom>
          <a:noFill/>
          <a:ln/>
        </p:spPr>
        <p:txBody>
          <a:bodyPr wrap="square" lIns="0" tIns="0" rIns="0" bIns="0" rtlCol="0" anchor="t"/>
          <a:lstStyle/>
          <a:p>
            <a:pPr indent="0" marL="0">
              <a:buNone/>
            </a:pPr>
            <a:r>
              <a:rPr lang="en-US" sz="1600" b="1" dirty="0">
                <a:solidFill>
                  <a:schemeClr val="accent2"/>
                </a:solidFill>
              </a:rPr>
              <a:t xml:space="preserve">AIM: </a:t>
            </a:r>
            <a:r>
              <a:rPr lang="en-US" sz="1600" dirty="0">
                <a:solidFill>
                  <a:schemeClr val="tx1"/>
                </a:solidFill>
              </a:rPr>
              <a:t>To find the correlation between hand anthropometric measurements and the distance thrown with the shot put ball in shot put players.</a:t>
            </a:r>
            <a:endParaRPr lang="en-US" sz="1600" dirty="0"/>
          </a:p>
        </p:txBody>
      </p:sp>
      <p:sp>
        <p:nvSpPr>
          <p:cNvPr id="4" name="Objectives label"/>
          <p:cNvSpPr txBox="1"/>
          <p:nvPr/>
        </p:nvSpPr>
        <p:spPr>
          <a:xfrm>
            <a:off x="548640" y="2103120"/>
            <a:ext cx="8046720" cy="320040"/>
          </a:xfrm>
          <a:prstGeom prst="rect">
            <a:avLst/>
          </a:prstGeom>
          <a:noFill/>
          <a:ln/>
        </p:spPr>
        <p:txBody>
          <a:bodyPr wrap="square" lIns="0" tIns="0" rIns="0" bIns="0" rtlCol="0" anchor="ctr"/>
          <a:lstStyle/>
          <a:p>
            <a:pPr indent="0" marL="0">
              <a:buNone/>
            </a:pPr>
            <a:r>
              <a:rPr lang="en-US" sz="1600" b="1" dirty="0">
                <a:solidFill>
                  <a:schemeClr val="accent2"/>
                </a:solidFill>
              </a:rPr>
              <a:t>OBJECTIVES:</a:t>
            </a:r>
            <a:endParaRPr lang="en-US" sz="1600" dirty="0"/>
          </a:p>
        </p:txBody>
      </p:sp>
      <p:sp>
        <p:nvSpPr>
          <p:cNvPr id="5" name="Objectives list"/>
          <p:cNvSpPr txBox="1"/>
          <p:nvPr/>
        </p:nvSpPr>
        <p:spPr>
          <a:xfrm>
            <a:off x="548640" y="2514600"/>
            <a:ext cx="8046720" cy="21031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tx1"/>
                </a:solidFill>
              </a:rPr>
              <a:t>To measure the hand anthropometric variables of shot put players.</a:t>
            </a:r>
            <a:endParaRPr lang="en-US" sz="1600" dirty="0"/>
          </a:p>
          <a:p>
            <a:pPr marL="342900" indent="-342900">
              <a:spcAft>
                <a:spcPts val="800"/>
              </a:spcAft>
              <a:buSzPct val="100000"/>
              <a:buFont typeface="+mj-lt"/>
              <a:buAutoNum type="arabicPeriod" startAt="1"/>
            </a:pPr>
            <a:r>
              <a:rPr lang="en-US" sz="1600" dirty="0">
                <a:solidFill>
                  <a:schemeClr val="tx1"/>
                </a:solidFill>
              </a:rPr>
              <a:t>To record the throwing distance of the shot put ball for each player.</a:t>
            </a:r>
            <a:endParaRPr lang="en-US" sz="1600" dirty="0"/>
          </a:p>
          <a:p>
            <a:pPr marL="342900" indent="-342900">
              <a:spcAft>
                <a:spcPts val="800"/>
              </a:spcAft>
              <a:buSzPct val="100000"/>
              <a:buFont typeface="+mj-lt"/>
              <a:buAutoNum type="arabicPeriod" startAt="1"/>
            </a:pPr>
            <a:r>
              <a:rPr lang="en-US" sz="1600" dirty="0">
                <a:solidFill>
                  <a:schemeClr val="tx1"/>
                </a:solidFill>
              </a:rPr>
              <a:t>To find the correlation between each hand measurement and the throwing distance.</a:t>
            </a:r>
            <a:endParaRPr lang="en-US" sz="1600" dirty="0"/>
          </a:p>
          <a:p>
            <a:pPr marL="342900" indent="-342900">
              <a:spcAft>
                <a:spcPts val="800"/>
              </a:spcAft>
              <a:buSzPct val="100000"/>
              <a:buFont typeface="+mj-lt"/>
              <a:buAutoNum type="arabicPeriod" startAt="1"/>
            </a:pPr>
            <a:r>
              <a:rPr lang="en-US" sz="1600" dirty="0">
                <a:solidFill>
                  <a:schemeClr val="tx1"/>
                </a:solidFill>
              </a:rPr>
              <a:t>To identify which hand measurement is most strongly related to distance.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Aim and Objectives (continued)</a:t>
            </a:r>
            <a:endParaRPr lang="en-US" sz="3200" dirty="0"/>
          </a:p>
        </p:txBody>
      </p:sp>
      <p:sp>
        <p:nvSpPr>
          <p:cNvPr id="3" name="Null hypothesis"/>
          <p:cNvSpPr txBox="1"/>
          <p:nvPr/>
        </p:nvSpPr>
        <p:spPr>
          <a:xfrm>
            <a:off x="548640" y="1143000"/>
            <a:ext cx="8046720" cy="640080"/>
          </a:xfrm>
          <a:prstGeom prst="rect">
            <a:avLst/>
          </a:prstGeom>
          <a:noFill/>
          <a:ln/>
        </p:spPr>
        <p:txBody>
          <a:bodyPr wrap="square" lIns="0" tIns="0" rIns="0" bIns="0" rtlCol="0" anchor="t"/>
          <a:lstStyle/>
          <a:p>
            <a:pPr indent="0" marL="0">
              <a:buNone/>
            </a:pPr>
            <a:r>
              <a:rPr lang="en-US" sz="1600" b="1" dirty="0">
                <a:solidFill>
                  <a:schemeClr val="accent2"/>
                </a:solidFill>
              </a:rPr>
              <a:t xml:space="preserve">NULL HYPOTHESIS (H0): </a:t>
            </a:r>
            <a:r>
              <a:rPr lang="en-US" sz="1600" dirty="0">
                <a:solidFill>
                  <a:schemeClr val="tx1"/>
                </a:solidFill>
              </a:rPr>
              <a:t>There will be no significant correlation between hand anthropometric measurements and the throwing distance of the shot put ball.</a:t>
            </a:r>
            <a:endParaRPr lang="en-US" sz="1600" dirty="0"/>
          </a:p>
        </p:txBody>
      </p:sp>
      <p:sp>
        <p:nvSpPr>
          <p:cNvPr id="4" name="Alternate hypothesis"/>
          <p:cNvSpPr txBox="1"/>
          <p:nvPr/>
        </p:nvSpPr>
        <p:spPr>
          <a:xfrm>
            <a:off x="548640" y="1874520"/>
            <a:ext cx="8046720" cy="640080"/>
          </a:xfrm>
          <a:prstGeom prst="rect">
            <a:avLst/>
          </a:prstGeom>
          <a:noFill/>
          <a:ln/>
        </p:spPr>
        <p:txBody>
          <a:bodyPr wrap="square" lIns="0" tIns="0" rIns="0" bIns="0" rtlCol="0" anchor="t"/>
          <a:lstStyle/>
          <a:p>
            <a:pPr indent="0" marL="0">
              <a:buNone/>
            </a:pPr>
            <a:r>
              <a:rPr lang="en-US" sz="1600" b="1" dirty="0">
                <a:solidFill>
                  <a:schemeClr val="accent2"/>
                </a:solidFill>
              </a:rPr>
              <a:t xml:space="preserve">ALTERNATE HYPOTHESIS (H1): </a:t>
            </a:r>
            <a:r>
              <a:rPr lang="en-US" sz="1600" dirty="0">
                <a:solidFill>
                  <a:schemeClr val="tx1"/>
                </a:solidFill>
              </a:rPr>
              <a:t>There will be a significant correlation between hand anthropometric measurements and the throwing distance of the shot put ball.</a:t>
            </a:r>
            <a:endParaRPr lang="en-US" sz="1600" dirty="0"/>
          </a:p>
        </p:txBody>
      </p:sp>
      <p:sp>
        <p:nvSpPr>
          <p:cNvPr id="5" name="Variables label"/>
          <p:cNvSpPr txBox="1"/>
          <p:nvPr/>
        </p:nvSpPr>
        <p:spPr>
          <a:xfrm>
            <a:off x="548640" y="2651760"/>
            <a:ext cx="8046720" cy="320040"/>
          </a:xfrm>
          <a:prstGeom prst="rect">
            <a:avLst/>
          </a:prstGeom>
          <a:noFill/>
          <a:ln/>
        </p:spPr>
        <p:txBody>
          <a:bodyPr wrap="square" lIns="0" tIns="0" rIns="0" bIns="0" rtlCol="0" anchor="ctr"/>
          <a:lstStyle/>
          <a:p>
            <a:pPr indent="0" marL="0">
              <a:buNone/>
            </a:pPr>
            <a:r>
              <a:rPr lang="en-US" sz="1600" b="1" dirty="0">
                <a:solidFill>
                  <a:schemeClr val="accent2"/>
                </a:solidFill>
              </a:rPr>
              <a:t>VARIABLES:</a:t>
            </a:r>
            <a:endParaRPr lang="en-US" sz="1600" dirty="0"/>
          </a:p>
        </p:txBody>
      </p:sp>
      <p:sp>
        <p:nvSpPr>
          <p:cNvPr id="6" name="Variables list"/>
          <p:cNvSpPr txBox="1"/>
          <p:nvPr/>
        </p:nvSpPr>
        <p:spPr>
          <a:xfrm>
            <a:off x="548640" y="3063240"/>
            <a:ext cx="8046720" cy="137160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 xml:space="preserve">Independent: </a:t>
            </a:r>
            <a:r>
              <a:rPr lang="en-US" sz="1600" dirty="0">
                <a:solidFill>
                  <a:schemeClr val="tx1"/>
                </a:solidFill>
              </a:rPr>
              <a:t>hand length, hand breadth, palm length, hand span, finger lengths and hand circumference.</a:t>
            </a:r>
            <a:endParaRPr lang="en-US" sz="1600" dirty="0"/>
          </a:p>
          <a:p>
            <a:pPr indent="0" marL="0">
              <a:spcAft>
                <a:spcPts val="800"/>
              </a:spcAft>
              <a:buNone/>
            </a:pPr>
            <a:r>
              <a:rPr lang="en-US" sz="1600" b="1" dirty="0">
                <a:solidFill>
                  <a:schemeClr val="accent2"/>
                </a:solidFill>
              </a:rPr>
              <a:t xml:space="preserve">Dependent: </a:t>
            </a:r>
            <a:r>
              <a:rPr lang="en-US" sz="1600" dirty="0">
                <a:solidFill>
                  <a:schemeClr val="tx1"/>
                </a:solidFill>
              </a:rPr>
              <a:t>best throwing distance of the shot put ball, in metres.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Review of Literature</a:t>
            </a:r>
            <a:endParaRPr lang="en-US" sz="3200" dirty="0"/>
          </a:p>
        </p:txBody>
      </p:sp>
      <p:sp>
        <p:nvSpPr>
          <p:cNvPr id="3" name="ROL text 1"/>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b="1" dirty="0">
                <a:solidFill>
                  <a:schemeClr val="accent2"/>
                </a:solidFill>
              </a:rPr>
              <a:t xml:space="preserve">Raschka, Vöth and Kuczera (2015) </a:t>
            </a:r>
            <a:r>
              <a:rPr lang="en-US" sz="1500" dirty="0">
                <a:solidFill>
                  <a:schemeClr val="tx1"/>
                </a:solidFill>
              </a:rPr>
              <a:t>compared 19 German junior male shot putters, 19 javelin throwers and 11 recreational athletes aged 16 to 23 years. The shot putters were larger overall. In the shot putters, hand width, along with body height, shoulder width, foot width, arm span and forearm circumference, was positively related to throw distance. (1)</a:t>
            </a:r>
            <a:endParaRPr lang="en-US" sz="1500" dirty="0"/>
          </a:p>
          <a:p>
            <a:pPr indent="0" marL="0">
              <a:spcAft>
                <a:spcPts val="1000"/>
              </a:spcAft>
              <a:buNone/>
            </a:pPr>
            <a:r>
              <a:rPr lang="en-US" sz="1500" b="1" dirty="0">
                <a:solidFill>
                  <a:schemeClr val="accent2"/>
                </a:solidFill>
              </a:rPr>
              <a:t xml:space="preserve">A 2014 study in the Fiep Bulletin </a:t>
            </a:r>
            <a:r>
              <a:rPr lang="en-US" sz="1500" dirty="0">
                <a:solidFill>
                  <a:schemeClr val="tx1"/>
                </a:solidFill>
              </a:rPr>
              <a:t>examined body lengths, including arm length, forearm length and hand length, against results in shot put and javelin throw. Several of the dimensions were significantly related to shot put results, while only sitting height was related to javelin results. The study suggested that such measures can help select children who have a solid base to start throwing training. (2)</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Review of Literature (continued)</a:t>
            </a:r>
            <a:endParaRPr lang="en-US" sz="3200" dirty="0"/>
          </a:p>
        </p:txBody>
      </p:sp>
      <p:sp>
        <p:nvSpPr>
          <p:cNvPr id="3" name="ROL text 2"/>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b="1" dirty="0">
                <a:solidFill>
                  <a:schemeClr val="accent2"/>
                </a:solidFill>
              </a:rPr>
              <a:t xml:space="preserve">Swisher (2009) </a:t>
            </a:r>
            <a:r>
              <a:rPr lang="en-US" sz="1500" dirty="0">
                <a:solidFill>
                  <a:schemeClr val="tx1"/>
                </a:solidFill>
              </a:rPr>
              <a:t>studied 17 male Division I collegiate throwers to find which anthropometric, strength and power measures best predict throwing performance. A five-variable model explained 88% of the variation in shot put performance, and the best predictors were static vertical jump and a 7.26 kg overhead shot throw. (3)</a:t>
            </a:r>
            <a:endParaRPr lang="en-US" sz="1500" dirty="0"/>
          </a:p>
          <a:p>
            <a:pPr indent="0" marL="0">
              <a:spcAft>
                <a:spcPts val="1000"/>
              </a:spcAft>
              <a:buNone/>
            </a:pPr>
            <a:r>
              <a:rPr lang="en-US" sz="1500" b="1" dirty="0">
                <a:solidFill>
                  <a:schemeClr val="accent2"/>
                </a:solidFill>
              </a:rPr>
              <a:t xml:space="preserve">Haq and colleagues (2019) </a:t>
            </a:r>
            <a:r>
              <a:rPr lang="en-US" sz="1500" dirty="0">
                <a:solidFill>
                  <a:schemeClr val="tx1"/>
                </a:solidFill>
              </a:rPr>
              <a:t>compared tall and short university shot put throwers on throwing kinematics, physical fitness and body composition, using video analysis of the throws and tests that included hand grip strength. They noted that shot put performance depends on anthropometric characteristics, fitness and technique together. (4)</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Review of Literature (continued)</a:t>
            </a:r>
            <a:endParaRPr lang="en-US" sz="3200" dirty="0"/>
          </a:p>
        </p:txBody>
      </p:sp>
      <p:sp>
        <p:nvSpPr>
          <p:cNvPr id="3" name="ROL text 3"/>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b="1" dirty="0">
                <a:solidFill>
                  <a:schemeClr val="accent2"/>
                </a:solidFill>
              </a:rPr>
              <a:t xml:space="preserve">Tuquet and colleagues (2020) </a:t>
            </a:r>
            <a:r>
              <a:rPr lang="en-US" sz="1500" dirty="0">
                <a:solidFill>
                  <a:schemeClr val="tx1"/>
                </a:solidFill>
              </a:rPr>
              <a:t>studied 176 amateur male handball players from under 12 years to senior level. Height, weight, BMI, arm span and hand measures were compared with throwing speed from 7 m. BMI, arm span and height were good predictors of throwing speed, and hand size was not among the selected predictors. (5)</a:t>
            </a:r>
            <a:endParaRPr lang="en-US" sz="1500" dirty="0"/>
          </a:p>
          <a:p>
            <a:pPr indent="0" marL="0">
              <a:spcAft>
                <a:spcPts val="1000"/>
              </a:spcAft>
              <a:buNone/>
            </a:pPr>
            <a:r>
              <a:rPr lang="en-US" sz="1500" b="1" dirty="0">
                <a:solidFill>
                  <a:schemeClr val="accent2"/>
                </a:solidFill>
              </a:rPr>
              <a:t xml:space="preserve">Overall, </a:t>
            </a:r>
            <a:r>
              <a:rPr lang="en-US" sz="1500" dirty="0">
                <a:solidFill>
                  <a:schemeClr val="tx1"/>
                </a:solidFill>
              </a:rPr>
              <a:t>these studies show that body dimensions are linked with throwing performance, and that hand width has been related to shot put distance. None of the studies reviewed here, however, relates several hand measurements, such as length, breadth, span and finger length, to shot put distance, and this is the gap the present study sets out to address.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Material and Methodology</a:t>
            </a:r>
            <a:endParaRPr lang="en-US" sz="3200" dirty="0"/>
          </a:p>
        </p:txBody>
      </p:sp>
      <p:sp>
        <p:nvSpPr>
          <p:cNvPr id="3" name="Methodology text 1"/>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b="1" dirty="0">
                <a:solidFill>
                  <a:schemeClr val="accent2"/>
                </a:solidFill>
              </a:rPr>
              <a:t xml:space="preserve">Study design: </a:t>
            </a:r>
            <a:r>
              <a:rPr lang="en-US" sz="1500" dirty="0">
                <a:solidFill>
                  <a:schemeClr val="tx1"/>
                </a:solidFill>
              </a:rPr>
              <a:t>Cross-sectional correlational study.</a:t>
            </a:r>
            <a:endParaRPr lang="en-US" sz="1500" dirty="0"/>
          </a:p>
          <a:p>
            <a:pPr indent="0" marL="0">
              <a:spcAft>
                <a:spcPts val="1000"/>
              </a:spcAft>
              <a:buNone/>
            </a:pPr>
            <a:r>
              <a:rPr lang="en-US" sz="1500" b="1" dirty="0">
                <a:solidFill>
                  <a:schemeClr val="accent2"/>
                </a:solidFill>
              </a:rPr>
              <a:t xml:space="preserve">Sample: </a:t>
            </a:r>
            <a:r>
              <a:rPr lang="en-US" sz="1500" dirty="0">
                <a:solidFill>
                  <a:schemeClr val="tx1"/>
                </a:solidFill>
              </a:rPr>
              <a:t>30 shot put players from college and club teams, selected by purposive sampling.</a:t>
            </a:r>
            <a:endParaRPr lang="en-US" sz="1500" dirty="0"/>
          </a:p>
          <a:p>
            <a:pPr indent="0" marL="0">
              <a:spcAft>
                <a:spcPts val="1000"/>
              </a:spcAft>
              <a:buNone/>
            </a:pPr>
            <a:r>
              <a:rPr lang="en-US" sz="1500" b="1" dirty="0">
                <a:solidFill>
                  <a:schemeClr val="accent2"/>
                </a:solidFill>
              </a:rPr>
              <a:t xml:space="preserve">Inclusion criteria: </a:t>
            </a:r>
            <a:r>
              <a:rPr lang="en-US" sz="1500" dirty="0">
                <a:solidFill>
                  <a:schemeClr val="tx1"/>
                </a:solidFill>
              </a:rPr>
              <a:t>players aged 18 to 25 years; at least one year of regular shot put training; free from injury of the throwing arm and hand in the last six months; willing to give written informed consent.</a:t>
            </a:r>
            <a:endParaRPr lang="en-US" sz="1500" dirty="0"/>
          </a:p>
          <a:p>
            <a:pPr indent="0" marL="0">
              <a:spcAft>
                <a:spcPts val="1000"/>
              </a:spcAft>
              <a:buNone/>
            </a:pPr>
            <a:r>
              <a:rPr lang="en-US" sz="1500" b="1" dirty="0">
                <a:solidFill>
                  <a:schemeClr val="accent2"/>
                </a:solidFill>
              </a:rPr>
              <a:t xml:space="preserve">Exclusion criteria: </a:t>
            </a:r>
            <a:r>
              <a:rPr lang="en-US" sz="1500" dirty="0">
                <a:solidFill>
                  <a:schemeClr val="tx1"/>
                </a:solidFill>
              </a:rPr>
              <a:t>any fracture, deformity, surgery or pain in the throwing hand, wrist or shoulder; players unable to complete the throws.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Material and Methodology (continued)</a:t>
            </a:r>
            <a:endParaRPr lang="en-US" sz="3200" dirty="0"/>
          </a:p>
        </p:txBody>
      </p:sp>
      <p:sp>
        <p:nvSpPr>
          <p:cNvPr id="3" name="Methodology text 2"/>
          <p:cNvSpPr txBox="1"/>
          <p:nvPr/>
        </p:nvSpPr>
        <p:spPr>
          <a:xfrm>
            <a:off x="548640" y="1097280"/>
            <a:ext cx="8046720" cy="3611880"/>
          </a:xfrm>
          <a:prstGeom prst="rect">
            <a:avLst/>
          </a:prstGeom>
          <a:noFill/>
          <a:ln/>
        </p:spPr>
        <p:txBody>
          <a:bodyPr wrap="square" lIns="0" tIns="0" rIns="0" bIns="0" rtlCol="0" anchor="t"/>
          <a:lstStyle/>
          <a:p>
            <a:pPr indent="0" marL="0">
              <a:spcAft>
                <a:spcPts val="1000"/>
              </a:spcAft>
              <a:buNone/>
            </a:pPr>
            <a:r>
              <a:rPr lang="en-US" sz="1500" b="1" dirty="0">
                <a:solidFill>
                  <a:schemeClr val="accent2"/>
                </a:solidFill>
              </a:rPr>
              <a:t xml:space="preserve">Materials: </a:t>
            </a:r>
            <a:r>
              <a:rPr lang="en-US" sz="1500" dirty="0">
                <a:solidFill>
                  <a:schemeClr val="tx1"/>
                </a:solidFill>
              </a:rPr>
              <a:t>digital vernier caliper, non-stretchable measuring tape, skin marker, standard shot put (weight as per age and gender category), measuring tape for the throw, and a data sheet.</a:t>
            </a:r>
            <a:endParaRPr lang="en-US" sz="1500" dirty="0"/>
          </a:p>
          <a:p>
            <a:pPr indent="0" marL="0">
              <a:spcAft>
                <a:spcPts val="1000"/>
              </a:spcAft>
              <a:buNone/>
            </a:pPr>
            <a:r>
              <a:rPr lang="en-US" sz="1500" b="1" dirty="0">
                <a:solidFill>
                  <a:schemeClr val="accent2"/>
                </a:solidFill>
              </a:rPr>
              <a:t xml:space="preserve">Variables measured: </a:t>
            </a:r>
            <a:r>
              <a:rPr lang="en-US" sz="1500" dirty="0">
                <a:solidFill>
                  <a:schemeClr val="tx1"/>
                </a:solidFill>
              </a:rPr>
              <a:t>on the throwing hand, hand length, hand breadth, palm length, hand span, finger lengths and hand circumference; for performance, the best throwing distance of the shot put ball.</a:t>
            </a:r>
            <a:endParaRPr lang="en-US" sz="1500" dirty="0"/>
          </a:p>
          <a:p>
            <a:pPr indent="0" marL="0">
              <a:spcAft>
                <a:spcPts val="1000"/>
              </a:spcAft>
              <a:buNone/>
            </a:pPr>
            <a:r>
              <a:rPr lang="en-US" sz="1500" b="1" dirty="0">
                <a:solidFill>
                  <a:schemeClr val="accent2"/>
                </a:solidFill>
              </a:rPr>
              <a:t xml:space="preserve">Statistical analysis: </a:t>
            </a:r>
            <a:r>
              <a:rPr lang="en-US" sz="1500" dirty="0">
                <a:solidFill>
                  <a:schemeClr val="tx1"/>
                </a:solidFill>
              </a:rPr>
              <a:t>data will be analysed using SPSS. Descriptive statistics will be calculated, normality checked with the Shapiro-Wilk test, and the relationship between each hand measurement and throwing distance tested with Pearson’s correlation (Spearman’s if data are not normal). The level of significance will be set at p &lt; 0.05.</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Procedure</a:t>
            </a:r>
            <a:endParaRPr lang="en-US" sz="3200" dirty="0"/>
          </a:p>
        </p:txBody>
      </p:sp>
      <p:sp>
        <p:nvSpPr>
          <p:cNvPr id="3" name="Procedure list"/>
          <p:cNvSpPr txBox="1"/>
          <p:nvPr/>
        </p:nvSpPr>
        <p:spPr>
          <a:xfrm>
            <a:off x="548640" y="1143000"/>
            <a:ext cx="804672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500" dirty="0">
                <a:solidFill>
                  <a:schemeClr val="tx1"/>
                </a:solidFill>
              </a:rPr>
              <a:t>Permission will be taken from the institution and coach, the purpose and steps will be explained, and written informed consent will be obtained from every player.</a:t>
            </a:r>
            <a:endParaRPr lang="en-US" sz="1500" dirty="0"/>
          </a:p>
          <a:p>
            <a:pPr marL="342900" indent="-342900">
              <a:spcAft>
                <a:spcPts val="900"/>
              </a:spcAft>
              <a:buSzPct val="100000"/>
              <a:buFont typeface="+mj-lt"/>
              <a:buAutoNum type="arabicPeriod" startAt="1"/>
            </a:pPr>
            <a:r>
              <a:rPr lang="en-US" sz="1500" dirty="0">
                <a:solidFill>
                  <a:schemeClr val="tx1"/>
                </a:solidFill>
              </a:rPr>
              <a:t>Name, age, sex, height, body weight, years of training and throwing hand will be recorded for each player.</a:t>
            </a:r>
            <a:endParaRPr lang="en-US" sz="1500" dirty="0"/>
          </a:p>
          <a:p>
            <a:pPr marL="342900" indent="-342900">
              <a:spcAft>
                <a:spcPts val="900"/>
              </a:spcAft>
              <a:buSzPct val="100000"/>
              <a:buFont typeface="+mj-lt"/>
              <a:buAutoNum type="arabicPeriod" startAt="1"/>
            </a:pPr>
            <a:r>
              <a:rPr lang="en-US" sz="1500" dirty="0">
                <a:solidFill>
                  <a:schemeClr val="tx1"/>
                </a:solidFill>
              </a:rPr>
              <a:t>For hand measurement the player sits with the forearm resting on a table, palm facing up and fingers extended and relaxed. Landmarks are marked with a skin marker.</a:t>
            </a:r>
            <a:endParaRPr lang="en-US" sz="1500" dirty="0"/>
          </a:p>
          <a:p>
            <a:pPr marL="342900" indent="-342900">
              <a:spcAft>
                <a:spcPts val="900"/>
              </a:spcAft>
              <a:buSzPct val="100000"/>
              <a:buFont typeface="+mj-lt"/>
              <a:buAutoNum type="arabicPeriod" startAt="1"/>
            </a:pPr>
            <a:r>
              <a:rPr lang="en-US" sz="1500" dirty="0">
                <a:solidFill>
                  <a:schemeClr val="tx1"/>
                </a:solidFill>
              </a:rPr>
              <a:t>Hand length, hand breadth, palm length, hand span, finger lengths and hand circumference of the throwing hand will be measured. Each measurement is taken three times and the mean is used.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Procedure (continued)</a:t>
            </a:r>
            <a:endParaRPr lang="en-US" sz="3200" dirty="0"/>
          </a:p>
        </p:txBody>
      </p:sp>
      <p:sp>
        <p:nvSpPr>
          <p:cNvPr id="3" name="Procedure list"/>
          <p:cNvSpPr txBox="1"/>
          <p:nvPr/>
        </p:nvSpPr>
        <p:spPr>
          <a:xfrm>
            <a:off x="548640" y="1143000"/>
            <a:ext cx="8046720" cy="3474720"/>
          </a:xfrm>
          <a:prstGeom prst="rect">
            <a:avLst/>
          </a:prstGeom>
          <a:noFill/>
          <a:ln/>
        </p:spPr>
        <p:txBody>
          <a:bodyPr wrap="square" lIns="0" tIns="0" rIns="0" bIns="0" rtlCol="0" anchor="t"/>
          <a:lstStyle/>
          <a:p>
            <a:pPr marL="342900" indent="-342900">
              <a:spcAft>
                <a:spcPts val="900"/>
              </a:spcAft>
              <a:buSzPct val="100000"/>
              <a:buFont typeface="+mj-lt"/>
              <a:buAutoNum type="arabicPeriod" startAt="5"/>
            </a:pPr>
            <a:r>
              <a:rPr lang="en-US" sz="1500" dirty="0">
                <a:solidFill>
                  <a:schemeClr val="tx1"/>
                </a:solidFill>
              </a:rPr>
              <a:t>After the hand measurements, each player will complete a standard warm-up of general exercises and throwing-specific drills.</a:t>
            </a:r>
            <a:endParaRPr lang="en-US" sz="1500" dirty="0"/>
          </a:p>
          <a:p>
            <a:pPr marL="342900" indent="-342900">
              <a:spcAft>
                <a:spcPts val="900"/>
              </a:spcAft>
              <a:buSzPct val="100000"/>
              <a:buFont typeface="+mj-lt"/>
              <a:buAutoNum type="arabicPeriod" startAt="5"/>
            </a:pPr>
            <a:r>
              <a:rPr lang="en-US" sz="1500" dirty="0">
                <a:solidFill>
                  <a:schemeClr val="tx1"/>
                </a:solidFill>
              </a:rPr>
              <a:t>Each player will take three valid throws with the standard shot put from the throwing circle, using his or her usual technique, with two to three minutes of rest between throws.</a:t>
            </a:r>
            <a:endParaRPr lang="en-US" sz="1500" dirty="0"/>
          </a:p>
          <a:p>
            <a:pPr marL="342900" indent="-342900">
              <a:spcAft>
                <a:spcPts val="900"/>
              </a:spcAft>
              <a:buSzPct val="100000"/>
              <a:buFont typeface="+mj-lt"/>
              <a:buAutoNum type="arabicPeriod" startAt="5"/>
            </a:pPr>
            <a:r>
              <a:rPr lang="en-US" sz="1500" dirty="0">
                <a:solidFill>
                  <a:schemeClr val="tx1"/>
                </a:solidFill>
              </a:rPr>
              <a:t>The distance of each throw will be measured with a tape from the inner edge of the circle to the nearest mark made by the shot, and the best valid throw will be recorded.</a:t>
            </a:r>
            <a:endParaRPr lang="en-US" sz="1500" dirty="0"/>
          </a:p>
          <a:p>
            <a:pPr marL="342900" indent="-342900">
              <a:spcAft>
                <a:spcPts val="900"/>
              </a:spcAft>
              <a:buSzPct val="100000"/>
              <a:buFont typeface="+mj-lt"/>
              <a:buAutoNum type="arabicPeriod" startAt="5"/>
            </a:pPr>
            <a:r>
              <a:rPr lang="en-US" sz="1500" dirty="0">
                <a:solidFill>
                  <a:schemeClr val="tx1"/>
                </a:solidFill>
              </a:rPr>
              <a:t>The data will be entered into a spreadsheet and analysed in SPSS to find the correlation between each hand measurement and the best throwing distance.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548640" y="274320"/>
            <a:ext cx="8046720"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3" name="Reference list"/>
          <p:cNvSpPr txBox="1"/>
          <p:nvPr/>
        </p:nvSpPr>
        <p:spPr>
          <a:xfrm>
            <a:off x="548640" y="1143000"/>
            <a:ext cx="8046720" cy="34747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200" dirty="0">
                <a:solidFill>
                  <a:schemeClr val="tx1"/>
                </a:solidFill>
              </a:rPr>
              <a:t>Raschka C, Vöth K, Kuczera K. Sports anthropological and somatotypical comparison between young male shotputters and javelin throwers of different performance classes and recreational athletes. Pap Anthropol. 2015;24(1):129–41.</a:t>
            </a:r>
            <a:endParaRPr lang="en-US" sz="1200" dirty="0"/>
          </a:p>
          <a:p>
            <a:pPr marL="342900" indent="-342900">
              <a:spcAft>
                <a:spcPts val="800"/>
              </a:spcAft>
              <a:buSzPct val="100000"/>
              <a:buFont typeface="+mj-lt"/>
              <a:buAutoNum type="arabicPeriod" startAt="1"/>
            </a:pPr>
            <a:r>
              <a:rPr lang="en-US" sz="1200" dirty="0">
                <a:solidFill>
                  <a:schemeClr val="tx1"/>
                </a:solidFill>
              </a:rPr>
              <a:t>[Authors]. Relations between some anthropometric dimensions with the results achieved in shot put and javelin throw. Fiep Bull. 2014;83(3).</a:t>
            </a:r>
            <a:endParaRPr lang="en-US" sz="1200" dirty="0"/>
          </a:p>
          <a:p>
            <a:pPr marL="342900" indent="-342900">
              <a:spcAft>
                <a:spcPts val="800"/>
              </a:spcAft>
              <a:buSzPct val="100000"/>
              <a:buFont typeface="+mj-lt"/>
              <a:buAutoNum type="arabicPeriod" startAt="1"/>
            </a:pPr>
            <a:r>
              <a:rPr lang="en-US" sz="1200" dirty="0">
                <a:solidFill>
                  <a:schemeClr val="tx1"/>
                </a:solidFill>
              </a:rPr>
              <a:t>Swisher AM. Anthropometric, strength, and power determinants of throwing performance in collegiate throwers [thesis]. East Tennessee State University; 2009.</a:t>
            </a:r>
            <a:endParaRPr lang="en-US" sz="1200" dirty="0"/>
          </a:p>
          <a:p>
            <a:pPr marL="342900" indent="-342900">
              <a:spcAft>
                <a:spcPts val="800"/>
              </a:spcAft>
              <a:buSzPct val="100000"/>
              <a:buFont typeface="+mj-lt"/>
              <a:buAutoNum type="arabicPeriod" startAt="1"/>
            </a:pPr>
            <a:r>
              <a:rPr lang="en-US" sz="1200" dirty="0">
                <a:solidFill>
                  <a:schemeClr val="tx1"/>
                </a:solidFill>
              </a:rPr>
              <a:t>Zia ul Haq M, Maqbool U, Ali H, Ahamad M. Kinematic, physical fitness and body composition of heighted and short heighted shot-put throwers. Int J Acad Res Bus Soc Sci. 2019;9(6).</a:t>
            </a:r>
            <a:endParaRPr lang="en-US" sz="1200" dirty="0"/>
          </a:p>
          <a:p>
            <a:pPr marL="342900" indent="-342900">
              <a:spcAft>
                <a:spcPts val="800"/>
              </a:spcAft>
              <a:buSzPct val="100000"/>
              <a:buFont typeface="+mj-lt"/>
              <a:buAutoNum type="arabicPeriod" startAt="1"/>
            </a:pPr>
            <a:r>
              <a:rPr lang="en-US" sz="1200" dirty="0">
                <a:solidFill>
                  <a:schemeClr val="tx1"/>
                </a:solidFill>
              </a:rPr>
              <a:t>Tuquet J, Zapardiel JC, Saavedra JM, Jaén-Carrillo D, Lozano D. Relationship between anthropometric parameters and throwing speed in amateur male handball players at different ages. Int J Environ Res Public Health. 2020;17(19):7022.</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C99"/>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ricket Synopsis">
  <a:themeElements>
    <a:clrScheme name="Cricket Synopsis">
      <a:dk1>
        <a:srgbClr val="1B2A30"/>
      </a:dk1>
      <a:lt1>
        <a:srgbClr val="FFFFFF"/>
      </a:lt1>
      <a:dk2>
        <a:srgbClr val="12303A"/>
      </a:dk2>
      <a:lt2>
        <a:srgbClr val="EAF2F4"/>
      </a:lt2>
      <a:accent1>
        <a:srgbClr val="E4572E"/>
      </a:accent1>
      <a:accent2>
        <a:srgbClr val="2A7F8E"/>
      </a:accent2>
      <a:accent3>
        <a:srgbClr val="F2A541"/>
      </a:accent3>
      <a:accent4>
        <a:srgbClr val="5B7C99"/>
      </a:accent4>
      <a:accent5>
        <a:srgbClr val="8FB8C2"/>
      </a:accent5>
      <a:accent6>
        <a:srgbClr val="C9D6DA"/>
      </a:accent6>
      <a:hlink>
        <a:srgbClr val="2A7F8E"/>
      </a:hlink>
      <a:folHlink>
        <a:srgbClr val="5B7C99"/>
      </a:folHlink>
    </a:clrScheme>
    <a:fontScheme name="Cricket Synopsi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Multidirection Run and Throw Test to Agility for Cricketers</dc:title>
  <dc:subject>PptxGenJS Presentation</dc:subject>
  <dc:creator>PptxGenJS</dc:creator>
  <cp:lastModifiedBy>PptxGenJS</cp:lastModifiedBy>
  <cp:revision>1</cp:revision>
  <dcterms:created xsi:type="dcterms:W3CDTF">2026-10-23T22:36:57Z</dcterms:created>
  <dcterms:modified xsi:type="dcterms:W3CDTF">2026-10-23T22:36:57Z</dcterms:modified>
</cp:coreProperties>
</file>